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ABECD"/>
                </a:solidFill>
                <a:latin typeface="Aptos"/>
              </a:defRPr>
            </a:pPr>
            <a:r>
              <a:t>DEVOPS PROJECT •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8FAFC"/>
                </a:solidFill>
                <a:latin typeface="Aptos"/>
              </a:defRPr>
            </a:pPr>
            <a:r>
              <a:t>Complete</a:t>
            </a:r>
          </a:p>
          <a:p>
            <a:pPr>
              <a:spcAft>
                <a:spcPts val="800"/>
              </a:spcAft>
              <a:defRPr sz="3600" b="1">
                <a:solidFill>
                  <a:srgbClr val="F8FAFC"/>
                </a:solidFill>
                <a:latin typeface="Aptos"/>
              </a:defRPr>
            </a:pPr>
            <a:r>
              <a:t>Observability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461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BEC8D6"/>
                </a:solidFill>
                <a:latin typeface="Aptos"/>
              </a:defRPr>
            </a:pPr>
            <a:r>
              <a:t>Metrics  •  Logs  •  Distributed Tracing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6052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8FAFC"/>
                </a:solidFill>
                <a:latin typeface="Aptos"/>
              </a:defRPr>
            </a:pPr>
            <a:r>
              <a:t>Docker Compose | Prometheus | Grafana | Loki | Promtail | Jaeger</a:t>
            </a:r>
          </a:p>
        </p:txBody>
      </p:sp>
      <p:pic>
        <p:nvPicPr>
          <p:cNvPr id="7" name="Picture 6" descr="Screenshot 2026-10-21 2150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2759" y="4572000"/>
            <a:ext cx="2885360" cy="1600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43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ABECD"/>
                </a:solidFill>
                <a:latin typeface="Aptos"/>
              </a:defRPr>
            </a:pPr>
            <a:r>
              <a:t>PROJECT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EC8D6"/>
                </a:solidFill>
                <a:latin typeface="Aptos"/>
              </a:defRPr>
            </a:pPr>
            <a:r>
              <a:t>COMPLETE OBSERVABILITY SYSTEM  •  DEVOPS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ABECD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01  |  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60120"/>
            <a:ext cx="1051560" cy="54864"/>
          </a:xfrm>
          <a:prstGeom prst="rect">
            <a:avLst/>
          </a:prstGeom>
          <a:solidFill>
            <a:srgbClr val="3A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EC8D6"/>
                </a:solidFill>
                <a:latin typeface="Aptos"/>
              </a:defRPr>
            </a:pPr>
            <a:r>
              <a:t>A local, containerized observability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Run a Node.js demo application with Docker Compose.</a:t>
            </a:r>
          </a:p>
          <a:p>
            <a:pPr>
              <a:spcAft>
                <a:spcPts val="16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Expose a health endpoint and Prometheus-compatible metrics.</a:t>
            </a:r>
          </a:p>
          <a:p>
            <a:pPr>
              <a:spcAft>
                <a:spcPts val="16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Explore time-series data in Prometheus and dashboards in Grafana.</a:t>
            </a:r>
          </a:p>
          <a:p>
            <a:pPr>
              <a:spcAft>
                <a:spcPts val="16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Use Loki + Promtail for log collection and Jaeger for traces.</a:t>
            </a:r>
          </a:p>
          <a:p>
            <a:pPr>
              <a:spcAft>
                <a:spcPts val="16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Learn how the three signals help troubleshoot application behavior.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EC8D6"/>
                </a:solidFill>
                <a:latin typeface="Aptos"/>
              </a:defRPr>
            </a:pPr>
            <a:r>
              <a:t>COMPLETE OBSERVABILITY SYSTEM  •  DEVOPS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ABECD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02  | 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60120"/>
            <a:ext cx="1051560" cy="54864"/>
          </a:xfrm>
          <a:prstGeom prst="rect">
            <a:avLst/>
          </a:prstGeom>
          <a:solidFill>
            <a:srgbClr val="3A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EC8D6"/>
                </a:solidFill>
                <a:latin typeface="Aptos"/>
              </a:defRPr>
            </a:pPr>
            <a:r>
              <a:t>One application, three observability signals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011680" cy="914400"/>
          </a:xfrm>
          <a:prstGeom prst="roundRect">
            <a:avLst/>
          </a:prstGeom>
          <a:solidFill>
            <a:srgbClr val="2373BE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Node.js App</a:t>
            </a:r>
            <a:br/>
            <a:r>
              <a:t>:3000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463040"/>
            <a:ext cx="2057400" cy="777240"/>
          </a:xfrm>
          <a:prstGeom prst="roundRect">
            <a:avLst/>
          </a:prstGeom>
          <a:solidFill>
            <a:srgbClr val="BE643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Prometheus</a:t>
            </a:r>
            <a:br/>
            <a:r>
              <a:t>Metrics :9090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743200"/>
            <a:ext cx="2057400" cy="777240"/>
          </a:xfrm>
          <a:prstGeom prst="roundRect">
            <a:avLst/>
          </a:prstGeom>
          <a:solidFill>
            <a:srgbClr val="50966E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Promtail → Loki</a:t>
            </a:r>
            <a:br/>
            <a:r>
              <a:t>Logs :3100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023360"/>
            <a:ext cx="2057400" cy="777240"/>
          </a:xfrm>
          <a:prstGeom prst="roundRect">
            <a:avLst/>
          </a:prstGeom>
          <a:solidFill>
            <a:srgbClr val="6E64B4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Jaeger</a:t>
            </a:r>
            <a:br/>
            <a:r>
              <a:t>Traces :16686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560320"/>
            <a:ext cx="2148840" cy="1051560"/>
          </a:xfrm>
          <a:prstGeom prst="roundRect">
            <a:avLst/>
          </a:prstGeom>
          <a:solidFill>
            <a:srgbClr val="2373BE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Grafana</a:t>
            </a:r>
            <a:br/>
            <a:r>
              <a:t>Explore &amp; Dashboards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560320" y="1828800"/>
            <a:ext cx="1097280" cy="594360"/>
          </a:xfrm>
          <a:prstGeom prst="line">
            <a:avLst/>
          </a:prstGeom>
          <a:ln w="25400">
            <a:solidFill>
              <a:srgbClr val="3A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560320" y="2468880"/>
            <a:ext cx="1097280" cy="640080"/>
          </a:xfrm>
          <a:prstGeom prst="line">
            <a:avLst/>
          </a:prstGeom>
          <a:ln w="25400">
            <a:solidFill>
              <a:srgbClr val="3A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60320" y="2514600"/>
            <a:ext cx="1097280" cy="1874520"/>
          </a:xfrm>
          <a:prstGeom prst="line">
            <a:avLst/>
          </a:prstGeom>
          <a:ln w="25400">
            <a:solidFill>
              <a:srgbClr val="3A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0" y="1828800"/>
            <a:ext cx="1600200" cy="1005840"/>
          </a:xfrm>
          <a:prstGeom prst="line">
            <a:avLst/>
          </a:prstGeom>
          <a:ln w="25400">
            <a:solidFill>
              <a:srgbClr val="3A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15000" y="3108960"/>
            <a:ext cx="1600200" cy="0"/>
          </a:xfrm>
          <a:prstGeom prst="line">
            <a:avLst/>
          </a:prstGeom>
          <a:ln w="25400">
            <a:solidFill>
              <a:srgbClr val="3A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35040" y="425196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EC8D6"/>
                </a:solidFill>
                <a:latin typeface="Aptos"/>
              </a:defRPr>
            </a:pPr>
            <a:r>
              <a:t>Note: Jaeger receives traces only when app instrumentation/export is configured.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EC8D6"/>
                </a:solidFill>
                <a:latin typeface="Aptos"/>
              </a:defRPr>
            </a:pPr>
            <a:r>
              <a:t>COMPLETE OBSERVABILITY SYSTEM  •  DEVOPS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ABECD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03  |  Bring the stack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60120"/>
            <a:ext cx="1051560" cy="54864"/>
          </a:xfrm>
          <a:prstGeom prst="rect">
            <a:avLst/>
          </a:prstGeom>
          <a:solidFill>
            <a:srgbClr val="3A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EC8D6"/>
                </a:solidFill>
                <a:latin typeface="Aptos"/>
              </a:defRPr>
            </a:pPr>
            <a:r>
              <a:t>Build and start the containers</a:t>
            </a:r>
          </a:p>
        </p:txBody>
      </p:sp>
      <p:pic>
        <p:nvPicPr>
          <p:cNvPr id="6" name="Picture 5" descr="Screenshot 2026-10-21 2150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352" y="1645920"/>
            <a:ext cx="7666815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96188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EC8D6"/>
                </a:solidFill>
                <a:latin typeface="Aptos"/>
              </a:defRPr>
            </a:pPr>
            <a:r>
              <a:t>Observed in screenshot: image built, network created, and eight containers reported started.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EC8D6"/>
                </a:solidFill>
                <a:latin typeface="Aptos"/>
              </a:defRPr>
            </a:pPr>
            <a:r>
              <a:t>COMPLETE OBSERVABILITY SYSTEM  •  DEVOPS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ABECD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04  |  Container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60120"/>
            <a:ext cx="1051560" cy="54864"/>
          </a:xfrm>
          <a:prstGeom prst="rect">
            <a:avLst/>
          </a:prstGeom>
          <a:solidFill>
            <a:srgbClr val="3A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EC8D6"/>
                </a:solidFill>
                <a:latin typeface="Aptos"/>
              </a:defRPr>
            </a:pPr>
            <a:r>
              <a:t>Verify the services with Docker Compose</a:t>
            </a:r>
          </a:p>
        </p:txBody>
      </p:sp>
      <p:pic>
        <p:nvPicPr>
          <p:cNvPr id="6" name="Picture 5" descr="Screenshot 2026-10-21 2151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41698"/>
            <a:ext cx="10972800" cy="26430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800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Run:  docker compose ps</a:t>
            </a:r>
          </a:p>
          <a:p>
            <a:pPr>
              <a:spcAft>
                <a:spcPts val="16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If something is unhealthy, inspect:  docker compose logs &lt;service&gt;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EC8D6"/>
                </a:solidFill>
                <a:latin typeface="Aptos"/>
              </a:defRPr>
            </a:pPr>
            <a:r>
              <a:t>COMPLETE OBSERVABILITY SYSTEM  •  DEVOPS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ABECD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05  |  Application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60120"/>
            <a:ext cx="1051560" cy="54864"/>
          </a:xfrm>
          <a:prstGeom prst="rect">
            <a:avLst/>
          </a:prstGeom>
          <a:solidFill>
            <a:srgbClr val="3A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EC8D6"/>
                </a:solidFill>
                <a:latin typeface="Aptos"/>
              </a:defRPr>
            </a:pPr>
            <a:r>
              <a:t>Health, route discovery, and demo traffic</a:t>
            </a:r>
          </a:p>
        </p:txBody>
      </p:sp>
      <p:pic>
        <p:nvPicPr>
          <p:cNvPr id="6" name="Picture 5" descr="Screenshot 2026-10-21 2152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04340"/>
            <a:ext cx="10972800" cy="4060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06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BEC8D6"/>
                </a:solidFill>
                <a:latin typeface="Aptos"/>
              </a:defRPr>
            </a:pPr>
            <a:r>
              <a:t>Verified from screenshot: /health reports status up; / lists available endpoints.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EC8D6"/>
                </a:solidFill>
                <a:latin typeface="Aptos"/>
              </a:defRPr>
            </a:pPr>
            <a:r>
              <a:t>COMPLETE OBSERVABILITY SYSTEM  •  DEVOPS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ABECD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06  |  Metrics with Prometheus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60120"/>
            <a:ext cx="1051560" cy="54864"/>
          </a:xfrm>
          <a:prstGeom prst="rect">
            <a:avLst/>
          </a:prstGeom>
          <a:solidFill>
            <a:srgbClr val="3A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EC8D6"/>
                </a:solidFill>
                <a:latin typeface="Aptos"/>
              </a:defRPr>
            </a:pPr>
            <a:r>
              <a:t>Query request counters and track change over time</a:t>
            </a:r>
          </a:p>
        </p:txBody>
      </p:sp>
      <p:pic>
        <p:nvPicPr>
          <p:cNvPr id="6" name="Picture 5" descr="Screenshot 2026-10-21 220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456" y="1554480"/>
            <a:ext cx="8628606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05332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EC8D6"/>
                </a:solidFill>
                <a:latin typeface="Aptos"/>
              </a:defRPr>
            </a:pPr>
            <a:r>
              <a:t>Example query: demo_http_requests_total   •   Rate query: rate(demo_http_requests_total[5m])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EC8D6"/>
                </a:solidFill>
                <a:latin typeface="Aptos"/>
              </a:defRPr>
            </a:pPr>
            <a:r>
              <a:t>COMPLETE OBSERVABILITY SYSTEM  •  DEVOPS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ABECD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07  |  Metrics endpoint &amp; demo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60120"/>
            <a:ext cx="1051560" cy="54864"/>
          </a:xfrm>
          <a:prstGeom prst="rect">
            <a:avLst/>
          </a:prstGeom>
          <a:solidFill>
            <a:srgbClr val="3A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EC8D6"/>
                </a:solidFill>
                <a:latin typeface="Aptos"/>
              </a:defRPr>
            </a:pPr>
            <a:r>
              <a:t>The app exposes process metrics and a success route</a:t>
            </a:r>
          </a:p>
        </p:txBody>
      </p:sp>
      <p:pic>
        <p:nvPicPr>
          <p:cNvPr id="6" name="Picture 5" descr="Screenshot 2026-10-21 2201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942" y="1554480"/>
            <a:ext cx="8287634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05332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EC8D6"/>
                </a:solidFill>
                <a:latin typeface="Aptos"/>
              </a:defRPr>
            </a:pPr>
            <a:r>
              <a:t>Generate requests, then check metrics, logs, and traces in their respective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EC8D6"/>
                </a:solidFill>
                <a:latin typeface="Aptos"/>
              </a:defRPr>
            </a:pPr>
            <a:r>
              <a:t>COMPLETE OBSERVABILITY SYSTEM  •  DEVOPS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ABECD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08  |  Validation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60120"/>
            <a:ext cx="1051560" cy="54864"/>
          </a:xfrm>
          <a:prstGeom prst="rect">
            <a:avLst/>
          </a:prstGeom>
          <a:solidFill>
            <a:srgbClr val="3A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EC8D6"/>
                </a:solidFill>
                <a:latin typeface="Aptos"/>
              </a:defRPr>
            </a:pPr>
            <a:r>
              <a:t>What to verify before calling the pipeline 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 Application: /health responds and /metrics contains app metrics.</a:t>
            </a:r>
          </a:p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 Prometheus: app target is UP and the request counter returns data.</a:t>
            </a:r>
          </a:p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 Grafana/Loki: a Loki data source is configured and logs are queryable.</a:t>
            </a:r>
          </a:p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 Jaeger: generate requests and confirm that spans appear for the demo service.</a:t>
            </a:r>
          </a:p>
          <a:p>
            <a:pPr>
              <a:spcAft>
                <a:spcPts val="16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•  Save dashboard screenshots and document expected behavior.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EC8D6"/>
                </a:solidFill>
                <a:latin typeface="Aptos"/>
              </a:defRPr>
            </a:pPr>
            <a:r>
              <a:t>COMPLETE OBSERVABILITY SYSTEM  •  DEVOPS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ABECD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09  |  Useful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60120"/>
            <a:ext cx="1051560" cy="54864"/>
          </a:xfrm>
          <a:prstGeom prst="rect">
            <a:avLst/>
          </a:prstGeom>
          <a:solidFill>
            <a:srgbClr val="3A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EC8D6"/>
                </a:solidFill>
                <a:latin typeface="Aptos"/>
              </a:defRPr>
            </a:pPr>
            <a:r>
              <a:t>Start, inspect, follow logs, and stop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4023360"/>
          </a:xfrm>
          <a:prstGeom prst="roundRect">
            <a:avLst/>
          </a:prstGeom>
          <a:solidFill>
            <a:srgbClr val="1E2A3C"/>
          </a:solidFill>
          <a:ln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28600"/>
          <a:lstStyle/>
          <a:p>
            <a:pPr algn="ctr">
              <a:defRPr sz="2000">
                <a:solidFill>
                  <a:srgbClr val="3ABECD"/>
                </a:solidFill>
                <a:latin typeface="Consolas"/>
              </a:defRPr>
            </a:pPr>
            <a:r>
              <a:t>docker compose up --build -d</a:t>
            </a:r>
          </a:p>
          <a:p>
            <a:pPr>
              <a:defRPr sz="2000">
                <a:solidFill>
                  <a:srgbClr val="BEC8D6"/>
                </a:solidFill>
                <a:latin typeface="Consolas"/>
              </a:defRPr>
            </a:pPr>
          </a:p>
          <a:p>
            <a:pPr>
              <a:defRPr sz="2000">
                <a:solidFill>
                  <a:srgbClr val="3ABECD"/>
                </a:solidFill>
                <a:latin typeface="Consolas"/>
              </a:defRPr>
            </a:pPr>
            <a:r>
              <a:t>docker compose ps</a:t>
            </a:r>
          </a:p>
          <a:p>
            <a:pPr>
              <a:defRPr sz="2000">
                <a:solidFill>
                  <a:srgbClr val="BEC8D6"/>
                </a:solidFill>
                <a:latin typeface="Consolas"/>
              </a:defRPr>
            </a:pPr>
          </a:p>
          <a:p>
            <a:pPr>
              <a:defRPr sz="2000">
                <a:solidFill>
                  <a:srgbClr val="3ABECD"/>
                </a:solidFill>
                <a:latin typeface="Consolas"/>
              </a:defRPr>
            </a:pPr>
            <a:r>
              <a:t>docker compose logs -f app</a:t>
            </a:r>
          </a:p>
          <a:p>
            <a:pPr>
              <a:defRPr sz="2000">
                <a:solidFill>
                  <a:srgbClr val="BEC8D6"/>
                </a:solidFill>
                <a:latin typeface="Consolas"/>
              </a:defRPr>
            </a:pPr>
          </a:p>
          <a:p>
            <a:pPr>
              <a:defRPr sz="2000">
                <a:solidFill>
                  <a:srgbClr val="3ABECD"/>
                </a:solidFill>
                <a:latin typeface="Consolas"/>
              </a:defRPr>
            </a:pPr>
            <a:r>
              <a:t>docker compose logs --tail=100</a:t>
            </a:r>
          </a:p>
          <a:p>
            <a:pPr>
              <a:defRPr sz="2000">
                <a:solidFill>
                  <a:srgbClr val="BEC8D6"/>
                </a:solidFill>
                <a:latin typeface="Consolas"/>
              </a:defRPr>
            </a:pPr>
          </a:p>
          <a:p>
            <a:pPr>
              <a:defRPr sz="2000">
                <a:solidFill>
                  <a:srgbClr val="3ABECD"/>
                </a:solidFill>
                <a:latin typeface="Consolas"/>
              </a:defRPr>
            </a:pPr>
            <a:r>
              <a:t>docker compose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EC8D6"/>
                </a:solidFill>
                <a:latin typeface="Aptos"/>
              </a:defRPr>
            </a:pPr>
            <a:r>
              <a:t>COMPLETE OBSERVABILITY SYSTEM  •  DEVOPS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ABECD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ABECD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8FAFC"/>
                </a:solidFill>
                <a:latin typeface="Aptos"/>
              </a:defRPr>
            </a:pPr>
            <a:r>
              <a:t>Observe the same application through</a:t>
            </a:r>
          </a:p>
          <a:p>
            <a:pPr>
              <a:spcAft>
                <a:spcPts val="800"/>
              </a:spcAft>
              <a:defRPr sz="3200" b="1">
                <a:solidFill>
                  <a:srgbClr val="F8FAFC"/>
                </a:solidFill>
                <a:latin typeface="Aptos"/>
              </a:defRPr>
            </a:pPr>
            <a:r>
              <a:t>metrics, logs, and traces.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Metrics reveal trends and service health.</a:t>
            </a:r>
          </a:p>
          <a:p>
            <a:pPr>
              <a:spcAft>
                <a:spcPts val="16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Logs explain events and errors.</a:t>
            </a:r>
          </a:p>
          <a:p>
            <a:pPr>
              <a:spcAft>
                <a:spcPts val="16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Traces help locate latency across operations.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BEC8D6"/>
                </a:solidFill>
                <a:latin typeface="Aptos"/>
              </a:defRPr>
            </a:pPr>
            <a:r>
              <a:t>Next: validate log shipping and trace export, then add dashboards and alerting.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EC8D6"/>
                </a:solidFill>
                <a:latin typeface="Aptos"/>
              </a:defRPr>
            </a:pPr>
            <a:r>
              <a:t>COMPLETE OBSERVABILITY SYSTEM  •  DEVOPS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ABECD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